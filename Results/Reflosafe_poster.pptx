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E2A"/>
    <a:srgbClr val="ADB9CA"/>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7" autoAdjust="0"/>
    <p:restoredTop sz="94660"/>
  </p:normalViewPr>
  <p:slideViewPr>
    <p:cSldViewPr snapToGrid="0">
      <p:cViewPr varScale="1">
        <p:scale>
          <a:sx n="46" d="100"/>
          <a:sy n="46" d="100"/>
        </p:scale>
        <p:origin x="229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55B189-E980-45BA-8944-DC3B3ECD5B63}"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70252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55B189-E980-45BA-8944-DC3B3ECD5B63}"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56781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solidFill>
              </a:defRPr>
            </a:lvl1pPr>
            <a:lvl2pPr marL="480060" indent="0">
              <a:buNone/>
              <a:defRPr sz="2100">
                <a:solidFill>
                  <a:schemeClr val="tx1">
                    <a:tint val="75000"/>
                  </a:schemeClr>
                </a:solidFill>
              </a:defRPr>
            </a:lvl2pPr>
            <a:lvl3pPr marL="960120" indent="0">
              <a:buNone/>
              <a:defRPr sz="1890">
                <a:solidFill>
                  <a:schemeClr val="tx1">
                    <a:tint val="75000"/>
                  </a:schemeClr>
                </a:solidFill>
              </a:defRPr>
            </a:lvl3pPr>
            <a:lvl4pPr marL="1440180" indent="0">
              <a:buNone/>
              <a:defRPr sz="1680">
                <a:solidFill>
                  <a:schemeClr val="tx1">
                    <a:tint val="75000"/>
                  </a:schemeClr>
                </a:solidFill>
              </a:defRPr>
            </a:lvl4pPr>
            <a:lvl5pPr marL="1920240" indent="0">
              <a:buNone/>
              <a:defRPr sz="1680">
                <a:solidFill>
                  <a:schemeClr val="tx1">
                    <a:tint val="75000"/>
                  </a:schemeClr>
                </a:solidFill>
              </a:defRPr>
            </a:lvl5pPr>
            <a:lvl6pPr marL="2400300" indent="0">
              <a:buNone/>
              <a:defRPr sz="1680">
                <a:solidFill>
                  <a:schemeClr val="tx1">
                    <a:tint val="75000"/>
                  </a:schemeClr>
                </a:solidFill>
              </a:defRPr>
            </a:lvl6pPr>
            <a:lvl7pPr marL="2880360" indent="0">
              <a:buNone/>
              <a:defRPr sz="1680">
                <a:solidFill>
                  <a:schemeClr val="tx1">
                    <a:tint val="75000"/>
                  </a:schemeClr>
                </a:solidFill>
              </a:defRPr>
            </a:lvl7pPr>
            <a:lvl8pPr marL="3360420" indent="0">
              <a:buNone/>
              <a:defRPr sz="1680">
                <a:solidFill>
                  <a:schemeClr val="tx1">
                    <a:tint val="75000"/>
                  </a:schemeClr>
                </a:solidFill>
              </a:defRPr>
            </a:lvl8pPr>
            <a:lvl9pPr marL="384048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55B189-E980-45BA-8944-DC3B3ECD5B63}"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3638572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55B189-E980-45BA-8944-DC3B3ECD5B63}"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3783526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55B189-E980-45BA-8944-DC3B3ECD5B63}"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3460528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55B189-E980-45BA-8944-DC3B3ECD5B63}"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1666396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55B189-E980-45BA-8944-DC3B3ECD5B63}"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3668944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D055B189-E980-45BA-8944-DC3B3ECD5B63}"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1810094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D055B189-E980-45BA-8944-DC3B3ECD5B63}"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1014249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55B189-E980-45BA-8944-DC3B3ECD5B63}"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2857234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55B189-E980-45BA-8944-DC3B3ECD5B63}"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EAA95F-24CB-4D77-8D61-A737509C149E}" type="slidenum">
              <a:rPr lang="en-US" smtClean="0"/>
              <a:t>‹#›</a:t>
            </a:fld>
            <a:endParaRPr lang="en-US"/>
          </a:p>
        </p:txBody>
      </p:sp>
    </p:spTree>
    <p:extLst>
      <p:ext uri="{BB962C8B-B14F-4D97-AF65-F5344CB8AC3E}">
        <p14:creationId xmlns:p14="http://schemas.microsoft.com/office/powerpoint/2010/main" val="930371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75000"/>
                  </a:schemeClr>
                </a:solidFill>
              </a:defRPr>
            </a:lvl1pPr>
          </a:lstStyle>
          <a:p>
            <a:fld id="{D055B189-E980-45BA-8944-DC3B3ECD5B63}" type="datetimeFigureOut">
              <a:rPr lang="en-US" smtClean="0"/>
              <a:t>7/22/2025</a:t>
            </a:fld>
            <a:endParaRPr lang="en-US"/>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75000"/>
                  </a:schemeClr>
                </a:solidFill>
              </a:defRPr>
            </a:lvl1pPr>
          </a:lstStyle>
          <a:p>
            <a:fld id="{44EAA95F-24CB-4D77-8D61-A737509C149E}" type="slidenum">
              <a:rPr lang="en-US" smtClean="0"/>
              <a:t>‹#›</a:t>
            </a:fld>
            <a:endParaRPr lang="en-US"/>
          </a:p>
        </p:txBody>
      </p:sp>
    </p:spTree>
    <p:extLst>
      <p:ext uri="{BB962C8B-B14F-4D97-AF65-F5344CB8AC3E}">
        <p14:creationId xmlns:p14="http://schemas.microsoft.com/office/powerpoint/2010/main" val="20547505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FF03E211-5785-8655-DDAD-EFE748D82802}"/>
              </a:ext>
            </a:extLst>
          </p:cNvPr>
          <p:cNvSpPr/>
          <p:nvPr/>
        </p:nvSpPr>
        <p:spPr>
          <a:xfrm>
            <a:off x="118122" y="43087"/>
            <a:ext cx="9361157" cy="12686052"/>
          </a:xfrm>
          <a:prstGeom prst="rect">
            <a:avLst/>
          </a:prstGeom>
          <a:solidFill>
            <a:schemeClr val="bg2">
              <a:lumMod val="90000"/>
            </a:schemeClr>
          </a:solidFill>
          <a:ln w="38100" cmpd="thickThin">
            <a:solidFill>
              <a:schemeClr val="accent5">
                <a:lumMod val="75000"/>
              </a:schemeClr>
            </a:solidFill>
          </a:ln>
          <a:effectLst>
            <a:innerShdw blurRad="63500" dist="50800" dir="108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endParaRPr lang="en-US"/>
          </a:p>
        </p:txBody>
      </p:sp>
      <p:pic>
        <p:nvPicPr>
          <p:cNvPr id="12" name="Picture 11">
            <a:extLst>
              <a:ext uri="{FF2B5EF4-FFF2-40B4-BE49-F238E27FC236}">
                <a16:creationId xmlns:a16="http://schemas.microsoft.com/office/drawing/2014/main" id="{F8BEA6A4-63D9-1257-AA16-0C612A98294A}"/>
              </a:ext>
            </a:extLst>
          </p:cNvPr>
          <p:cNvPicPr>
            <a:picLocks noChangeAspect="1"/>
          </p:cNvPicPr>
          <p:nvPr/>
        </p:nvPicPr>
        <p:blipFill>
          <a:blip r:embed="rId2"/>
          <a:stretch>
            <a:fillRect/>
          </a:stretch>
        </p:blipFill>
        <p:spPr>
          <a:xfrm>
            <a:off x="359312" y="110032"/>
            <a:ext cx="1308146" cy="1533124"/>
          </a:xfrm>
          <a:prstGeom prst="rect">
            <a:avLst/>
          </a:prstGeom>
        </p:spPr>
      </p:pic>
      <p:sp>
        <p:nvSpPr>
          <p:cNvPr id="15" name="TextBox 14">
            <a:extLst>
              <a:ext uri="{FF2B5EF4-FFF2-40B4-BE49-F238E27FC236}">
                <a16:creationId xmlns:a16="http://schemas.microsoft.com/office/drawing/2014/main" id="{2ACC5065-4F32-BC95-2D70-43B5EFCB01C5}"/>
              </a:ext>
            </a:extLst>
          </p:cNvPr>
          <p:cNvSpPr txBox="1"/>
          <p:nvPr/>
        </p:nvSpPr>
        <p:spPr>
          <a:xfrm>
            <a:off x="1686591" y="132690"/>
            <a:ext cx="7574429" cy="1521057"/>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latin typeface="Times New Roman" panose="02020603050405020304" pitchFamily="18" charset="0"/>
                <a:cs typeface="Times New Roman" panose="02020603050405020304" pitchFamily="18" charset="0"/>
              </a:rPr>
              <a:t>ANALYSIS OF FLAMMABLE REFRIGERANT LEAKS THROUGH CFD SIMULATION AND RISK ASSESSMENT TO ENHANCE INDUSTRIAL SAFETY</a:t>
            </a:r>
            <a:endParaRPr lang="en-US" b="1" kern="0" dirty="0">
              <a:latin typeface="Times New Roman" panose="02020603050405020304" pitchFamily="18" charset="0"/>
              <a:cs typeface="Times New Roman" panose="02020603050405020304" pitchFamily="18" charset="0"/>
              <a:sym typeface="Oswald"/>
            </a:endParaRPr>
          </a:p>
          <a:p>
            <a:pPr algn="ctr"/>
            <a:r>
              <a:rPr kumimoji="0" lang="en-US" sz="11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sym typeface="Oswald"/>
              </a:rPr>
              <a:t>E/20/045 </a:t>
            </a:r>
            <a:r>
              <a:rPr kumimoji="0" lang="en-US" sz="1100" b="1" i="0" u="none" strike="noStrike" kern="0" cap="none" spc="0" normalizeH="0" baseline="0" noProof="0" dirty="0" err="1">
                <a:ln>
                  <a:noFill/>
                </a:ln>
                <a:effectLst/>
                <a:uLnTx/>
                <a:uFillTx/>
                <a:latin typeface="Times New Roman" panose="02020603050405020304" pitchFamily="18" charset="0"/>
                <a:cs typeface="Times New Roman" panose="02020603050405020304" pitchFamily="18" charset="0"/>
                <a:sym typeface="Oswald"/>
              </a:rPr>
              <a:t>Chamika</a:t>
            </a:r>
            <a:r>
              <a:rPr kumimoji="0" lang="en-US" sz="11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sym typeface="Oswald"/>
              </a:rPr>
              <a:t> M.A.K ǀ</a:t>
            </a:r>
            <a:r>
              <a:rPr lang="en-US" sz="1100" b="1" kern="0" dirty="0">
                <a:latin typeface="Times New Roman" panose="02020603050405020304" pitchFamily="18" charset="0"/>
                <a:cs typeface="Times New Roman" panose="02020603050405020304" pitchFamily="18" charset="0"/>
                <a:sym typeface="Oswald"/>
              </a:rPr>
              <a:t> E/20/048 </a:t>
            </a:r>
            <a:r>
              <a:rPr lang="en-US" sz="1100" b="1" kern="0" dirty="0" err="1">
                <a:latin typeface="Times New Roman" panose="02020603050405020304" pitchFamily="18" charset="0"/>
                <a:cs typeface="Times New Roman" panose="02020603050405020304" pitchFamily="18" charset="0"/>
                <a:sym typeface="Oswald"/>
              </a:rPr>
              <a:t>Chandralal</a:t>
            </a:r>
            <a:r>
              <a:rPr lang="en-US" sz="1100" b="1" kern="0" dirty="0">
                <a:latin typeface="Times New Roman" panose="02020603050405020304" pitchFamily="18" charset="0"/>
                <a:cs typeface="Times New Roman" panose="02020603050405020304" pitchFamily="18" charset="0"/>
                <a:sym typeface="Oswald"/>
              </a:rPr>
              <a:t> U.H.S | E/20/175 </a:t>
            </a:r>
            <a:r>
              <a:rPr lang="en-US" sz="1100" b="1" kern="0" dirty="0" err="1">
                <a:latin typeface="Times New Roman" panose="02020603050405020304" pitchFamily="18" charset="0"/>
                <a:cs typeface="Times New Roman" panose="02020603050405020304" pitchFamily="18" charset="0"/>
                <a:sym typeface="Oswald"/>
              </a:rPr>
              <a:t>Jayawardana</a:t>
            </a:r>
            <a:r>
              <a:rPr lang="en-US" sz="1100" b="1" kern="0" dirty="0">
                <a:latin typeface="Times New Roman" panose="02020603050405020304" pitchFamily="18" charset="0"/>
                <a:cs typeface="Times New Roman" panose="02020603050405020304" pitchFamily="18" charset="0"/>
                <a:sym typeface="Oswald"/>
              </a:rPr>
              <a:t> S.D.U.B | E/20/302 </a:t>
            </a:r>
            <a:r>
              <a:rPr lang="en-US" sz="1100" b="1" kern="0" dirty="0" err="1">
                <a:latin typeface="Times New Roman" panose="02020603050405020304" pitchFamily="18" charset="0"/>
                <a:cs typeface="Times New Roman" panose="02020603050405020304" pitchFamily="18" charset="0"/>
                <a:sym typeface="Oswald"/>
              </a:rPr>
              <a:t>Premarathne</a:t>
            </a:r>
            <a:r>
              <a:rPr lang="en-US" sz="1100" b="1" kern="0" dirty="0">
                <a:latin typeface="Times New Roman" panose="02020603050405020304" pitchFamily="18" charset="0"/>
                <a:cs typeface="Times New Roman" panose="02020603050405020304" pitchFamily="18" charset="0"/>
                <a:sym typeface="Oswald"/>
              </a:rPr>
              <a:t> K.M.M.D</a:t>
            </a:r>
          </a:p>
          <a:p>
            <a:pPr algn="ctr"/>
            <a:r>
              <a:rPr lang="en-US" sz="1200" b="1" kern="0" dirty="0">
                <a:latin typeface="Times New Roman" panose="02020603050405020304" pitchFamily="18" charset="0"/>
                <a:cs typeface="Times New Roman" panose="02020603050405020304" pitchFamily="18" charset="0"/>
                <a:sym typeface="Oswald"/>
              </a:rPr>
              <a:t> </a:t>
            </a:r>
            <a:r>
              <a:rPr kumimoji="0" lang="en-US" sz="12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sym typeface="Oswald"/>
              </a:rPr>
              <a:t>Supervised By : </a:t>
            </a:r>
            <a:r>
              <a:rPr lang="en-US" sz="1200" b="1" kern="0" dirty="0">
                <a:latin typeface="Times New Roman" panose="02020603050405020304" pitchFamily="18" charset="0"/>
                <a:cs typeface="Times New Roman" panose="02020603050405020304" pitchFamily="18" charset="0"/>
                <a:sym typeface="Oswald"/>
              </a:rPr>
              <a:t>Prof. Primal Fernando</a:t>
            </a:r>
            <a:endParaRPr kumimoji="0" lang="en-US" sz="12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sym typeface="Oswald"/>
            </a:endParaRPr>
          </a:p>
          <a:p>
            <a:pPr algn="ctr">
              <a:lnSpc>
                <a:spcPct val="150000"/>
              </a:lnSpc>
            </a:pPr>
            <a:r>
              <a:rPr kumimoji="0" lang="en-US" sz="12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sym typeface="Oswald"/>
              </a:rPr>
              <a:t>Department of Mechanical Engineering, Faculty of Engineering, University of Peradeniya</a:t>
            </a:r>
          </a:p>
        </p:txBody>
      </p:sp>
      <p:sp>
        <p:nvSpPr>
          <p:cNvPr id="8" name="Rectangle: Rounded Corners 7">
            <a:extLst>
              <a:ext uri="{FF2B5EF4-FFF2-40B4-BE49-F238E27FC236}">
                <a16:creationId xmlns:a16="http://schemas.microsoft.com/office/drawing/2014/main" id="{AFEC8506-BD15-21BE-40D3-3A4B535B703E}"/>
              </a:ext>
            </a:extLst>
          </p:cNvPr>
          <p:cNvSpPr/>
          <p:nvPr/>
        </p:nvSpPr>
        <p:spPr>
          <a:xfrm>
            <a:off x="502677" y="1699162"/>
            <a:ext cx="4237916" cy="363575"/>
          </a:xfrm>
          <a:prstGeom prst="roundRect">
            <a:avLst/>
          </a:prstGeom>
        </p:spPr>
        <p:style>
          <a:lnRef idx="2">
            <a:schemeClr val="accent1">
              <a:shade val="15000"/>
            </a:schemeClr>
          </a:lnRef>
          <a:fillRef idx="1001">
            <a:schemeClr val="dk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5C9D9A69-CA2A-E3DA-B3EF-4C31B8A0F5AD}"/>
              </a:ext>
            </a:extLst>
          </p:cNvPr>
          <p:cNvSpPr/>
          <p:nvPr/>
        </p:nvSpPr>
        <p:spPr>
          <a:xfrm>
            <a:off x="550663" y="4837578"/>
            <a:ext cx="4249937" cy="307498"/>
          </a:xfrm>
          <a:prstGeom prst="roundRect">
            <a:avLst/>
          </a:prstGeom>
        </p:spPr>
        <p:style>
          <a:lnRef idx="2">
            <a:schemeClr val="accent1">
              <a:shade val="15000"/>
            </a:schemeClr>
          </a:lnRef>
          <a:fillRef idx="1001">
            <a:schemeClr val="dk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METHODOLOGY</a:t>
            </a:r>
            <a:endParaRPr lang="en-US" sz="1800" b="1" dirty="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2439D6D-0370-4A74-936E-63DE4E86677F}"/>
              </a:ext>
            </a:extLst>
          </p:cNvPr>
          <p:cNvSpPr txBox="1"/>
          <p:nvPr/>
        </p:nvSpPr>
        <p:spPr>
          <a:xfrm>
            <a:off x="289560" y="2016972"/>
            <a:ext cx="4471683" cy="1463040"/>
          </a:xfrm>
          <a:prstGeom prst="rect">
            <a:avLst/>
          </a:prstGeom>
          <a:noFill/>
        </p:spPr>
        <p:txBody>
          <a:bodyPr wrap="square" rtlCol="0">
            <a:spAutoFit/>
          </a:bodyPr>
          <a:lstStyle/>
          <a:p>
            <a:pPr marL="285750" indent="-2857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Simulate refrigerant leak scenarios for ammonia and propane under different scales and situations. </a:t>
            </a:r>
          </a:p>
          <a:p>
            <a:pPr marL="285750" indent="-2857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Analyze dispersion patterns based on leak location and external factors (like wind, temperature).</a:t>
            </a:r>
          </a:p>
          <a:p>
            <a:pPr marL="285750" indent="-2857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Identify potential danger zones.</a:t>
            </a:r>
          </a:p>
          <a:p>
            <a:pPr marL="285750" indent="-2857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Compare current industry safety protocols against simulation results.</a:t>
            </a:r>
          </a:p>
          <a:p>
            <a:pPr marL="285750" indent="-2857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Propose improvements for industrial facility designs and emergency response plans</a:t>
            </a:r>
          </a:p>
        </p:txBody>
      </p:sp>
      <p:sp>
        <p:nvSpPr>
          <p:cNvPr id="34" name="Rectangle: Rounded Corners 33">
            <a:extLst>
              <a:ext uri="{FF2B5EF4-FFF2-40B4-BE49-F238E27FC236}">
                <a16:creationId xmlns:a16="http://schemas.microsoft.com/office/drawing/2014/main" id="{8FE9D816-AA23-4DDE-BFE4-2F391C8FF256}"/>
              </a:ext>
            </a:extLst>
          </p:cNvPr>
          <p:cNvSpPr/>
          <p:nvPr/>
        </p:nvSpPr>
        <p:spPr>
          <a:xfrm>
            <a:off x="560251" y="10136968"/>
            <a:ext cx="4249937" cy="363575"/>
          </a:xfrm>
          <a:prstGeom prst="roundRect">
            <a:avLst/>
          </a:prstGeom>
        </p:spPr>
        <p:style>
          <a:lnRef idx="2">
            <a:schemeClr val="accent1">
              <a:shade val="15000"/>
            </a:schemeClr>
          </a:lnRef>
          <a:fillRef idx="1001">
            <a:schemeClr val="dk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RESULTS AND OUTCOMES  </a:t>
            </a:r>
            <a:endParaRPr lang="en-US"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1E5D0A3F-D6E4-4E9D-A75F-097C5807086C}"/>
              </a:ext>
            </a:extLst>
          </p:cNvPr>
          <p:cNvSpPr txBox="1"/>
          <p:nvPr/>
        </p:nvSpPr>
        <p:spPr>
          <a:xfrm>
            <a:off x="339213" y="6257161"/>
            <a:ext cx="4431640" cy="1709699"/>
          </a:xfrm>
          <a:prstGeom prst="rect">
            <a:avLst/>
          </a:prstGeom>
          <a:noFill/>
        </p:spPr>
        <p:txBody>
          <a:bodyPr wrap="square" rtlCol="0">
            <a:spAutoFit/>
          </a:bodyPr>
          <a:lstStyle/>
          <a:p>
            <a:pPr algn="just" defTabSz="1066800">
              <a:spcBef>
                <a:spcPts val="100"/>
              </a:spcBef>
              <a:spcAft>
                <a:spcPct val="35000"/>
              </a:spcAft>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algn="just" defTabSz="1066800">
              <a:spcBef>
                <a:spcPts val="100"/>
              </a:spcBef>
              <a:spcAft>
                <a:spcPct val="35000"/>
              </a:spcAft>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algn="just" defTabSz="1066800">
              <a:spcBef>
                <a:spcPts val="100"/>
              </a:spcBef>
              <a:spcAft>
                <a:spcPct val="35000"/>
              </a:spcAft>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algn="just" defTabSz="1066800">
              <a:spcBef>
                <a:spcPts val="100"/>
              </a:spcBef>
              <a:spcAft>
                <a:spcPct val="35000"/>
              </a:spcAft>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algn="just" defTabSz="1066800">
              <a:spcBef>
                <a:spcPts val="100"/>
              </a:spcBef>
              <a:spcAft>
                <a:spcPct val="35000"/>
              </a:spcAft>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algn="just" defTabSz="1066800">
              <a:spcBef>
                <a:spcPts val="100"/>
              </a:spcBef>
              <a:spcAft>
                <a:spcPct val="35000"/>
              </a:spcAft>
            </a:pPr>
            <a:endParaRPr lang="en-US" sz="1100" i="1" u="sng" dirty="0"/>
          </a:p>
          <a:p>
            <a:pPr algn="ctr" defTabSz="1066800">
              <a:spcBef>
                <a:spcPts val="100"/>
              </a:spcBef>
              <a:spcAft>
                <a:spcPct val="35000"/>
              </a:spcAft>
            </a:pPr>
            <a:r>
              <a:rPr lang="en-US" sz="1100" i="1" u="sng" dirty="0"/>
              <a:t>Figure 02: Atmospheric data and their average values</a:t>
            </a:r>
            <a:endParaRPr lang="en-US" sz="11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7D94979A-21A2-428D-8E19-3A350D61D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293" y="6282370"/>
            <a:ext cx="2046597" cy="1434919"/>
          </a:xfrm>
          <a:prstGeom prst="rect">
            <a:avLst/>
          </a:prstGeom>
        </p:spPr>
      </p:pic>
      <p:pic>
        <p:nvPicPr>
          <p:cNvPr id="27" name="Picture 26">
            <a:extLst>
              <a:ext uri="{FF2B5EF4-FFF2-40B4-BE49-F238E27FC236}">
                <a16:creationId xmlns:a16="http://schemas.microsoft.com/office/drawing/2014/main" id="{7CE3758A-4F88-4A27-BF5F-AB11F75B84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8426" y="6270057"/>
            <a:ext cx="2176320" cy="1434919"/>
          </a:xfrm>
          <a:prstGeom prst="rect">
            <a:avLst/>
          </a:prstGeom>
        </p:spPr>
      </p:pic>
      <p:sp>
        <p:nvSpPr>
          <p:cNvPr id="28" name="TextBox 27">
            <a:extLst>
              <a:ext uri="{FF2B5EF4-FFF2-40B4-BE49-F238E27FC236}">
                <a16:creationId xmlns:a16="http://schemas.microsoft.com/office/drawing/2014/main" id="{66785855-2BA0-4087-B2CF-6487095740CD}"/>
              </a:ext>
            </a:extLst>
          </p:cNvPr>
          <p:cNvSpPr txBox="1"/>
          <p:nvPr/>
        </p:nvSpPr>
        <p:spPr>
          <a:xfrm>
            <a:off x="4840392" y="1652462"/>
            <a:ext cx="4665270" cy="2462213"/>
          </a:xfrm>
          <a:prstGeom prst="rect">
            <a:avLst/>
          </a:prstGeom>
          <a:noFill/>
        </p:spPr>
        <p:txBody>
          <a:bodyPr wrap="square" rtlCol="0">
            <a:spAutoFit/>
          </a:bodyPr>
          <a:lstStyle/>
          <a:p>
            <a:pPr marL="171450" indent="-171450">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Dispersion for 5 cm hole diameter and 256kg ammonia</a:t>
            </a:r>
          </a:p>
          <a:p>
            <a:pPr marL="171450" indent="-171450">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Ammonia ( Mass flow rate – 32.83 kg/s)  </a:t>
            </a: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p:txBody>
      </p:sp>
      <p:sp>
        <p:nvSpPr>
          <p:cNvPr id="48" name="Rectangle: Rounded Corners 47">
            <a:extLst>
              <a:ext uri="{FF2B5EF4-FFF2-40B4-BE49-F238E27FC236}">
                <a16:creationId xmlns:a16="http://schemas.microsoft.com/office/drawing/2014/main" id="{39DEECE7-D6B3-4C42-9933-E2B89F9FAABC}"/>
              </a:ext>
            </a:extLst>
          </p:cNvPr>
          <p:cNvSpPr/>
          <p:nvPr/>
        </p:nvSpPr>
        <p:spPr>
          <a:xfrm>
            <a:off x="484643" y="3466102"/>
            <a:ext cx="4249937" cy="307498"/>
          </a:xfrm>
          <a:prstGeom prst="roundRect">
            <a:avLst/>
          </a:prstGeom>
        </p:spPr>
        <p:style>
          <a:lnRef idx="2">
            <a:schemeClr val="accent1">
              <a:shade val="15000"/>
            </a:schemeClr>
          </a:lnRef>
          <a:fillRef idx="1001">
            <a:schemeClr val="dk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PLANT LAYOUT</a:t>
            </a:r>
            <a:endParaRPr lang="en-US" sz="1800" b="1" dirty="0">
              <a:solidFill>
                <a:schemeClr val="bg1"/>
              </a:solidFill>
              <a:latin typeface="Times New Roman" panose="02020603050405020304" pitchFamily="18" charset="0"/>
              <a:cs typeface="Times New Roman" panose="02020603050405020304" pitchFamily="18" charset="0"/>
            </a:endParaRPr>
          </a:p>
        </p:txBody>
      </p:sp>
      <p:pic>
        <p:nvPicPr>
          <p:cNvPr id="38" name="Picture 37">
            <a:extLst>
              <a:ext uri="{FF2B5EF4-FFF2-40B4-BE49-F238E27FC236}">
                <a16:creationId xmlns:a16="http://schemas.microsoft.com/office/drawing/2014/main" id="{30FD716F-45F4-44BA-8D27-92AB82979F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463" y="3816712"/>
            <a:ext cx="1875086" cy="815530"/>
          </a:xfrm>
          <a:prstGeom prst="rect">
            <a:avLst/>
          </a:prstGeom>
        </p:spPr>
      </p:pic>
      <p:sp>
        <p:nvSpPr>
          <p:cNvPr id="39" name="TextBox 38">
            <a:extLst>
              <a:ext uri="{FF2B5EF4-FFF2-40B4-BE49-F238E27FC236}">
                <a16:creationId xmlns:a16="http://schemas.microsoft.com/office/drawing/2014/main" id="{B9329938-BC44-4E98-895D-AE2F4983C1BB}"/>
              </a:ext>
            </a:extLst>
          </p:cNvPr>
          <p:cNvSpPr txBox="1"/>
          <p:nvPr/>
        </p:nvSpPr>
        <p:spPr>
          <a:xfrm>
            <a:off x="2502932" y="3838188"/>
            <a:ext cx="2529656" cy="769441"/>
          </a:xfrm>
          <a:prstGeom prst="rect">
            <a:avLst/>
          </a:prstGeom>
          <a:noFill/>
          <a:ln>
            <a:noFill/>
          </a:ln>
        </p:spPr>
        <p:txBody>
          <a:bodyPr wrap="square" rtlCol="0">
            <a:spAutoFit/>
          </a:bodyPr>
          <a:lstStyle/>
          <a:p>
            <a:r>
              <a:rPr lang="en-US" sz="1100" dirty="0">
                <a:latin typeface="Times New Roman" panose="02020603050405020304" pitchFamily="18" charset="0"/>
                <a:cs typeface="Times New Roman" panose="02020603050405020304" pitchFamily="18" charset="0"/>
              </a:rPr>
              <a:t>Company Name : Saputo Dairy Foods</a:t>
            </a:r>
          </a:p>
          <a:p>
            <a:r>
              <a:rPr lang="en-US" sz="1100" dirty="0">
                <a:latin typeface="Times New Roman" panose="02020603050405020304" pitchFamily="18" charset="0"/>
                <a:cs typeface="Times New Roman" panose="02020603050405020304" pitchFamily="18" charset="0"/>
              </a:rPr>
              <a:t>Location: Tulare, California, USA</a:t>
            </a:r>
          </a:p>
          <a:p>
            <a:r>
              <a:rPr lang="en-US" sz="1100" dirty="0">
                <a:latin typeface="Times New Roman" panose="02020603050405020304" pitchFamily="18" charset="0"/>
                <a:cs typeface="Times New Roman" panose="02020603050405020304" pitchFamily="18" charset="0"/>
              </a:rPr>
              <a:t>Latitude : 36°12'53.91"N</a:t>
            </a:r>
          </a:p>
          <a:p>
            <a:r>
              <a:rPr lang="en-US" sz="1100" dirty="0">
                <a:latin typeface="Times New Roman" panose="02020603050405020304" pitchFamily="18" charset="0"/>
                <a:cs typeface="Times New Roman" panose="02020603050405020304" pitchFamily="18" charset="0"/>
              </a:rPr>
              <a:t>Longitude : 119°20'54.42"W</a:t>
            </a:r>
          </a:p>
        </p:txBody>
      </p:sp>
      <p:sp>
        <p:nvSpPr>
          <p:cNvPr id="3" name="TextBox 2">
            <a:extLst>
              <a:ext uri="{FF2B5EF4-FFF2-40B4-BE49-F238E27FC236}">
                <a16:creationId xmlns:a16="http://schemas.microsoft.com/office/drawing/2014/main" id="{C6622AA0-31FA-E12D-3474-21C71DAC65B8}"/>
              </a:ext>
            </a:extLst>
          </p:cNvPr>
          <p:cNvSpPr txBox="1"/>
          <p:nvPr/>
        </p:nvSpPr>
        <p:spPr>
          <a:xfrm>
            <a:off x="694840" y="4591222"/>
            <a:ext cx="1875086" cy="261610"/>
          </a:xfrm>
          <a:prstGeom prst="rect">
            <a:avLst/>
          </a:prstGeom>
          <a:noFill/>
        </p:spPr>
        <p:txBody>
          <a:bodyPr wrap="square" rtlCol="0">
            <a:spAutoFit/>
          </a:bodyPr>
          <a:lstStyle/>
          <a:p>
            <a:r>
              <a:rPr lang="en-US" sz="1100" i="1" u="sng" dirty="0"/>
              <a:t>Figure 01: Layout of the plant</a:t>
            </a:r>
            <a:endParaRPr lang="en-US" sz="1100" dirty="0"/>
          </a:p>
        </p:txBody>
      </p:sp>
      <p:pic>
        <p:nvPicPr>
          <p:cNvPr id="7" name="Picture 6">
            <a:extLst>
              <a:ext uri="{FF2B5EF4-FFF2-40B4-BE49-F238E27FC236}">
                <a16:creationId xmlns:a16="http://schemas.microsoft.com/office/drawing/2014/main" id="{7CE533BB-0BCD-658E-72FB-AFA05BA51B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2708" y="11040407"/>
            <a:ext cx="2125941" cy="1379423"/>
          </a:xfrm>
          <a:prstGeom prst="rect">
            <a:avLst/>
          </a:prstGeom>
        </p:spPr>
      </p:pic>
      <p:pic>
        <p:nvPicPr>
          <p:cNvPr id="10" name="Picture 9">
            <a:extLst>
              <a:ext uri="{FF2B5EF4-FFF2-40B4-BE49-F238E27FC236}">
                <a16:creationId xmlns:a16="http://schemas.microsoft.com/office/drawing/2014/main" id="{9DA3FBA5-D378-487D-50C6-E12BE5CEB6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88358" y="11048881"/>
            <a:ext cx="2355101" cy="1370949"/>
          </a:xfrm>
          <a:prstGeom prst="rect">
            <a:avLst/>
          </a:prstGeom>
        </p:spPr>
      </p:pic>
      <p:sp>
        <p:nvSpPr>
          <p:cNvPr id="13" name="TextBox 12">
            <a:extLst>
              <a:ext uri="{FF2B5EF4-FFF2-40B4-BE49-F238E27FC236}">
                <a16:creationId xmlns:a16="http://schemas.microsoft.com/office/drawing/2014/main" id="{D3839AD7-386F-08E2-C730-C059F077E3EE}"/>
              </a:ext>
            </a:extLst>
          </p:cNvPr>
          <p:cNvSpPr txBox="1"/>
          <p:nvPr/>
        </p:nvSpPr>
        <p:spPr>
          <a:xfrm>
            <a:off x="167190" y="12400057"/>
            <a:ext cx="4500923" cy="261610"/>
          </a:xfrm>
          <a:prstGeom prst="rect">
            <a:avLst/>
          </a:prstGeom>
          <a:noFill/>
        </p:spPr>
        <p:txBody>
          <a:bodyPr wrap="square" rtlCol="0">
            <a:spAutoFit/>
          </a:bodyPr>
          <a:lstStyle/>
          <a:p>
            <a:pPr algn="ctr"/>
            <a:r>
              <a:rPr lang="en-US" sz="1100" i="1" u="sng" dirty="0"/>
              <a:t>Figure 03: Dispersion area &amp; mass fraction of ammonia at 2 m height</a:t>
            </a:r>
            <a:endParaRPr lang="en-US" sz="1100" dirty="0"/>
          </a:p>
        </p:txBody>
      </p:sp>
      <p:pic>
        <p:nvPicPr>
          <p:cNvPr id="19" name="Picture 18">
            <a:extLst>
              <a:ext uri="{FF2B5EF4-FFF2-40B4-BE49-F238E27FC236}">
                <a16:creationId xmlns:a16="http://schemas.microsoft.com/office/drawing/2014/main" id="{39C4A5C9-3709-6680-45F8-C920176D7F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00484" y="5901578"/>
            <a:ext cx="2097408" cy="1360935"/>
          </a:xfrm>
          <a:prstGeom prst="rect">
            <a:avLst/>
          </a:prstGeom>
        </p:spPr>
      </p:pic>
      <p:pic>
        <p:nvPicPr>
          <p:cNvPr id="21" name="Picture 20">
            <a:extLst>
              <a:ext uri="{FF2B5EF4-FFF2-40B4-BE49-F238E27FC236}">
                <a16:creationId xmlns:a16="http://schemas.microsoft.com/office/drawing/2014/main" id="{D28976B2-3E2E-683A-4E28-72168E4186F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044205" y="5892931"/>
            <a:ext cx="2355101" cy="1370949"/>
          </a:xfrm>
          <a:prstGeom prst="rect">
            <a:avLst/>
          </a:prstGeom>
        </p:spPr>
      </p:pic>
      <p:sp>
        <p:nvSpPr>
          <p:cNvPr id="23" name="TextBox 22">
            <a:extLst>
              <a:ext uri="{FF2B5EF4-FFF2-40B4-BE49-F238E27FC236}">
                <a16:creationId xmlns:a16="http://schemas.microsoft.com/office/drawing/2014/main" id="{888E1DA9-83E6-DE29-D5DE-2A15D9B79B9F}"/>
              </a:ext>
            </a:extLst>
          </p:cNvPr>
          <p:cNvSpPr txBox="1"/>
          <p:nvPr/>
        </p:nvSpPr>
        <p:spPr>
          <a:xfrm>
            <a:off x="424065" y="10460687"/>
            <a:ext cx="4374122" cy="600164"/>
          </a:xfrm>
          <a:prstGeom prst="rect">
            <a:avLst/>
          </a:prstGeom>
          <a:noFill/>
        </p:spPr>
        <p:txBody>
          <a:bodyPr wrap="square" rtlCol="0">
            <a:spAutoFit/>
          </a:bodyPr>
          <a:lstStyle/>
          <a:p>
            <a:pPr marL="171450" indent="-171450" algn="jus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Dispersion for 1 cm hole diameter and  256kg ammonia</a:t>
            </a:r>
          </a:p>
          <a:p>
            <a:pPr marL="171450" indent="-171450">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Mass flow rate – 0.0707 kg/s</a:t>
            </a:r>
          </a:p>
          <a:p>
            <a:endParaRPr lang="en-US" sz="1100" dirty="0"/>
          </a:p>
        </p:txBody>
      </p:sp>
      <p:sp>
        <p:nvSpPr>
          <p:cNvPr id="24" name="TextBox 23">
            <a:extLst>
              <a:ext uri="{FF2B5EF4-FFF2-40B4-BE49-F238E27FC236}">
                <a16:creationId xmlns:a16="http://schemas.microsoft.com/office/drawing/2014/main" id="{8C3C06A6-82D5-2F26-E588-DCBFAD9998D8}"/>
              </a:ext>
            </a:extLst>
          </p:cNvPr>
          <p:cNvSpPr txBox="1"/>
          <p:nvPr/>
        </p:nvSpPr>
        <p:spPr>
          <a:xfrm>
            <a:off x="371173" y="7846688"/>
            <a:ext cx="4500923" cy="2334550"/>
          </a:xfrm>
          <a:prstGeom prst="rect">
            <a:avLst/>
          </a:prstGeom>
          <a:noFill/>
        </p:spPr>
        <p:txBody>
          <a:bodyPr wrap="square" rtlCol="0">
            <a:spAutoFit/>
          </a:bodyPr>
          <a:lstStyle/>
          <a:p>
            <a:pPr marL="285750" indent="-285750">
              <a:lnSpc>
                <a:spcPct val="110000"/>
              </a:lnSpc>
              <a:spcBef>
                <a:spcPts val="100"/>
              </a:spcBef>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Implementing phase</a:t>
            </a:r>
          </a:p>
          <a:p>
            <a:pPr>
              <a:lnSpc>
                <a:spcPct val="110000"/>
              </a:lnSpc>
              <a:spcBef>
                <a:spcPts val="100"/>
              </a:spcBef>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Run aloha simulations and estimate the area of dispersion.</a:t>
            </a:r>
          </a:p>
          <a:p>
            <a:pPr>
              <a:lnSpc>
                <a:spcPct val="110000"/>
              </a:lnSpc>
              <a:spcBef>
                <a:spcPts val="100"/>
              </a:spcBef>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Perform CFD modeling and simulation for the plant</a:t>
            </a:r>
          </a:p>
          <a:p>
            <a:pPr marL="285750" indent="-285750">
              <a:lnSpc>
                <a:spcPct val="110000"/>
              </a:lnSpc>
              <a:spcBef>
                <a:spcPts val="100"/>
              </a:spcBef>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Testing phase</a:t>
            </a:r>
          </a:p>
          <a:p>
            <a:pPr>
              <a:lnSpc>
                <a:spcPct val="110000"/>
              </a:lnSpc>
              <a:spcBef>
                <a:spcPts val="100"/>
              </a:spcBef>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Compare simulation results by simulating for different hole sizes and different tank sizes of the gas tank.</a:t>
            </a:r>
          </a:p>
          <a:p>
            <a:pPr>
              <a:lnSpc>
                <a:spcPct val="110000"/>
              </a:lnSpc>
              <a:spcBef>
                <a:spcPts val="100"/>
              </a:spcBef>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Identify the communities exposed and hazardous zones.</a:t>
            </a:r>
          </a:p>
          <a:p>
            <a:pPr marL="285750" indent="-285750">
              <a:lnSpc>
                <a:spcPct val="110000"/>
              </a:lnSpc>
              <a:spcBef>
                <a:spcPts val="100"/>
              </a:spcBef>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Evaluation phase</a:t>
            </a:r>
          </a:p>
          <a:p>
            <a:pPr marL="285750" indent="-285750">
              <a:lnSpc>
                <a:spcPct val="110000"/>
              </a:lnSpc>
              <a:spcBef>
                <a:spcPts val="100"/>
              </a:spcBef>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Build up HAZOP for both ammonia and propane</a:t>
            </a:r>
          </a:p>
          <a:p>
            <a:pPr marL="285750" indent="-285750">
              <a:lnSpc>
                <a:spcPct val="110000"/>
              </a:lnSpc>
              <a:spcBef>
                <a:spcPts val="100"/>
              </a:spcBef>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Suggest safety improvements for selecting tank sizes for a plant to store ammonia and propane</a:t>
            </a:r>
            <a:endParaRPr lang="en-US" sz="1200" dirty="0"/>
          </a:p>
        </p:txBody>
      </p:sp>
      <p:sp>
        <p:nvSpPr>
          <p:cNvPr id="26" name="TextBox 25">
            <a:extLst>
              <a:ext uri="{FF2B5EF4-FFF2-40B4-BE49-F238E27FC236}">
                <a16:creationId xmlns:a16="http://schemas.microsoft.com/office/drawing/2014/main" id="{CCFD9377-73CC-563E-04A4-B824BDACADA9}"/>
              </a:ext>
            </a:extLst>
          </p:cNvPr>
          <p:cNvSpPr txBox="1"/>
          <p:nvPr/>
        </p:nvSpPr>
        <p:spPr>
          <a:xfrm>
            <a:off x="434757" y="5090633"/>
            <a:ext cx="4500923" cy="1196481"/>
          </a:xfrm>
          <a:prstGeom prst="rect">
            <a:avLst/>
          </a:prstGeom>
          <a:noFill/>
        </p:spPr>
        <p:txBody>
          <a:bodyPr wrap="square" rtlCol="0">
            <a:spAutoFit/>
          </a:bodyPr>
          <a:lstStyle/>
          <a:p>
            <a:pPr marL="285750" indent="-285750" algn="just" defTabSz="1066800">
              <a:spcBef>
                <a:spcPts val="100"/>
              </a:spcBef>
              <a:spcAft>
                <a:spcPct val="35000"/>
              </a:spcAft>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Design phase </a:t>
            </a:r>
          </a:p>
          <a:p>
            <a:pPr algn="just" defTabSz="1066800">
              <a:spcBef>
                <a:spcPts val="100"/>
              </a:spcBef>
              <a:spcAft>
                <a:spcPct val="35000"/>
              </a:spcAft>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Identified safety issues related to ammonia and propane.</a:t>
            </a:r>
          </a:p>
          <a:p>
            <a:pPr algn="just" defTabSz="1066800">
              <a:spcBef>
                <a:spcPts val="100"/>
              </a:spcBef>
              <a:spcAft>
                <a:spcPct val="35000"/>
              </a:spcAft>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Atmospheric data (Cloud, wind speed/direction, humidity, temperature) is collected and get the average values of it.</a:t>
            </a:r>
          </a:p>
          <a:p>
            <a:pPr algn="just" defTabSz="1066800">
              <a:spcBef>
                <a:spcPts val="100"/>
              </a:spcBef>
              <a:spcAft>
                <a:spcPct val="35000"/>
              </a:spcAft>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Built up basic simulations and selection of the plant</a:t>
            </a:r>
          </a:p>
        </p:txBody>
      </p:sp>
      <p:pic>
        <p:nvPicPr>
          <p:cNvPr id="9" name="Picture 8">
            <a:extLst>
              <a:ext uri="{FF2B5EF4-FFF2-40B4-BE49-F238E27FC236}">
                <a16:creationId xmlns:a16="http://schemas.microsoft.com/office/drawing/2014/main" id="{D6720062-0AE9-3DC5-D73F-C36EF350161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44777" y="2034908"/>
            <a:ext cx="2099429" cy="1360934"/>
          </a:xfrm>
          <a:prstGeom prst="rect">
            <a:avLst/>
          </a:prstGeom>
        </p:spPr>
      </p:pic>
      <p:sp>
        <p:nvSpPr>
          <p:cNvPr id="16" name="TextBox 15">
            <a:extLst>
              <a:ext uri="{FF2B5EF4-FFF2-40B4-BE49-F238E27FC236}">
                <a16:creationId xmlns:a16="http://schemas.microsoft.com/office/drawing/2014/main" id="{0C052942-2DEC-AB7C-BE87-5FFB1B2D440C}"/>
              </a:ext>
            </a:extLst>
          </p:cNvPr>
          <p:cNvSpPr txBox="1"/>
          <p:nvPr/>
        </p:nvSpPr>
        <p:spPr>
          <a:xfrm>
            <a:off x="4956326" y="3352091"/>
            <a:ext cx="4500923" cy="261610"/>
          </a:xfrm>
          <a:prstGeom prst="rect">
            <a:avLst/>
          </a:prstGeom>
          <a:noFill/>
        </p:spPr>
        <p:txBody>
          <a:bodyPr wrap="square" rtlCol="0">
            <a:spAutoFit/>
          </a:bodyPr>
          <a:lstStyle/>
          <a:p>
            <a:pPr algn="ctr"/>
            <a:r>
              <a:rPr lang="en-US" sz="1100" i="1" u="sng" dirty="0"/>
              <a:t>Figure 04: Dispersion area &amp; mass fraction of ammonia at 2 m height</a:t>
            </a:r>
            <a:endParaRPr lang="en-US" sz="1100" dirty="0"/>
          </a:p>
        </p:txBody>
      </p:sp>
      <p:sp>
        <p:nvSpPr>
          <p:cNvPr id="17" name="Rectangle: Rounded Corners 16">
            <a:extLst>
              <a:ext uri="{FF2B5EF4-FFF2-40B4-BE49-F238E27FC236}">
                <a16:creationId xmlns:a16="http://schemas.microsoft.com/office/drawing/2014/main" id="{AACA604B-8C29-A664-2F1F-5CB989F973BC}"/>
              </a:ext>
            </a:extLst>
          </p:cNvPr>
          <p:cNvSpPr/>
          <p:nvPr/>
        </p:nvSpPr>
        <p:spPr>
          <a:xfrm>
            <a:off x="5077105" y="11464756"/>
            <a:ext cx="4249937" cy="363575"/>
          </a:xfrm>
          <a:prstGeom prst="roundRect">
            <a:avLst/>
          </a:prstGeom>
        </p:spPr>
        <p:style>
          <a:lnRef idx="2">
            <a:schemeClr val="accent1">
              <a:shade val="15000"/>
            </a:schemeClr>
          </a:lnRef>
          <a:fillRef idx="1001">
            <a:schemeClr val="dk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HAZOP</a:t>
            </a:r>
            <a:endParaRPr lang="en-US"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C9EAA9C-1110-DE2E-72BB-21B5C77D6B5E}"/>
              </a:ext>
            </a:extLst>
          </p:cNvPr>
          <p:cNvSpPr txBox="1"/>
          <p:nvPr/>
        </p:nvSpPr>
        <p:spPr>
          <a:xfrm>
            <a:off x="4919237" y="11828331"/>
            <a:ext cx="4249937" cy="769441"/>
          </a:xfrm>
          <a:prstGeom prst="rect">
            <a:avLst/>
          </a:prstGeom>
          <a:noFill/>
        </p:spPr>
        <p:txBody>
          <a:bodyPr wrap="square" rtlCol="0">
            <a:spAutoFit/>
          </a:bodyPr>
          <a:lstStyle/>
          <a:p>
            <a:pPr marL="171450" indent="-1714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HAZOP is applied to both propane and ammonia systems to identify potential risks such as leaks and operational failures. It helps implement corrective measures, effectively reducing the overall risk and enhancing system safety.</a:t>
            </a:r>
          </a:p>
        </p:txBody>
      </p:sp>
      <p:pic>
        <p:nvPicPr>
          <p:cNvPr id="33" name="Picture 32">
            <a:extLst>
              <a:ext uri="{FF2B5EF4-FFF2-40B4-BE49-F238E27FC236}">
                <a16:creationId xmlns:a16="http://schemas.microsoft.com/office/drawing/2014/main" id="{244927EE-B1F0-1824-E304-F7ADE968E9E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888759" y="9854905"/>
            <a:ext cx="2110726" cy="1373528"/>
          </a:xfrm>
          <a:prstGeom prst="rect">
            <a:avLst/>
          </a:prstGeom>
        </p:spPr>
      </p:pic>
      <p:pic>
        <p:nvPicPr>
          <p:cNvPr id="36" name="Picture 35">
            <a:extLst>
              <a:ext uri="{FF2B5EF4-FFF2-40B4-BE49-F238E27FC236}">
                <a16:creationId xmlns:a16="http://schemas.microsoft.com/office/drawing/2014/main" id="{71DDC33C-DFEA-F0C7-FE96-197AE2D96A8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055360" y="7920703"/>
            <a:ext cx="2343946" cy="1285578"/>
          </a:xfrm>
          <a:prstGeom prst="rect">
            <a:avLst/>
          </a:prstGeom>
        </p:spPr>
      </p:pic>
      <p:sp>
        <p:nvSpPr>
          <p:cNvPr id="37" name="TextBox 36">
            <a:extLst>
              <a:ext uri="{FF2B5EF4-FFF2-40B4-BE49-F238E27FC236}">
                <a16:creationId xmlns:a16="http://schemas.microsoft.com/office/drawing/2014/main" id="{B58E4E72-A6CE-E904-93E7-12CD1399B2EB}"/>
              </a:ext>
            </a:extLst>
          </p:cNvPr>
          <p:cNvSpPr txBox="1"/>
          <p:nvPr/>
        </p:nvSpPr>
        <p:spPr>
          <a:xfrm>
            <a:off x="4836287" y="7236036"/>
            <a:ext cx="4500923" cy="261610"/>
          </a:xfrm>
          <a:prstGeom prst="rect">
            <a:avLst/>
          </a:prstGeom>
          <a:noFill/>
        </p:spPr>
        <p:txBody>
          <a:bodyPr wrap="square" rtlCol="0">
            <a:spAutoFit/>
          </a:bodyPr>
          <a:lstStyle/>
          <a:p>
            <a:pPr algn="ctr"/>
            <a:r>
              <a:rPr lang="en-US" sz="1100" i="1" u="sng" dirty="0"/>
              <a:t>Figure 07: Dispersion area &amp; mass fraction of Propane at 2 m height</a:t>
            </a:r>
            <a:endParaRPr lang="en-US" sz="1100" dirty="0"/>
          </a:p>
        </p:txBody>
      </p:sp>
      <p:sp>
        <p:nvSpPr>
          <p:cNvPr id="40" name="TextBox 39">
            <a:extLst>
              <a:ext uri="{FF2B5EF4-FFF2-40B4-BE49-F238E27FC236}">
                <a16:creationId xmlns:a16="http://schemas.microsoft.com/office/drawing/2014/main" id="{8CB63824-EF64-49D9-DE14-8DB921BA3B21}"/>
              </a:ext>
            </a:extLst>
          </p:cNvPr>
          <p:cNvSpPr txBox="1"/>
          <p:nvPr/>
        </p:nvSpPr>
        <p:spPr>
          <a:xfrm>
            <a:off x="4872096" y="5526440"/>
            <a:ext cx="4075008" cy="430887"/>
          </a:xfrm>
          <a:prstGeom prst="rect">
            <a:avLst/>
          </a:prstGeom>
          <a:noFill/>
        </p:spPr>
        <p:txBody>
          <a:bodyPr wrap="square" rtlCol="0">
            <a:spAutoFit/>
          </a:bodyPr>
          <a:lstStyle/>
          <a:p>
            <a:pPr marL="171450" indent="-171450">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Dispersion for 1 cm hole diameter and  4213kg Propane</a:t>
            </a:r>
            <a:endParaRPr lang="en-US" sz="11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(Mass Flow rate – 1.178 kg/s)</a:t>
            </a:r>
          </a:p>
        </p:txBody>
      </p:sp>
      <p:sp>
        <p:nvSpPr>
          <p:cNvPr id="41" name="TextBox 40">
            <a:extLst>
              <a:ext uri="{FF2B5EF4-FFF2-40B4-BE49-F238E27FC236}">
                <a16:creationId xmlns:a16="http://schemas.microsoft.com/office/drawing/2014/main" id="{FF5C744B-0D36-0A57-466F-6B136CEEA9F8}"/>
              </a:ext>
            </a:extLst>
          </p:cNvPr>
          <p:cNvSpPr txBox="1"/>
          <p:nvPr/>
        </p:nvSpPr>
        <p:spPr>
          <a:xfrm>
            <a:off x="4895850" y="7477125"/>
            <a:ext cx="4511777" cy="261610"/>
          </a:xfrm>
          <a:prstGeom prst="rect">
            <a:avLst/>
          </a:prstGeom>
          <a:noFill/>
        </p:spPr>
        <p:txBody>
          <a:bodyPr wrap="square" rtlCol="0">
            <a:spAutoFit/>
          </a:bodyPr>
          <a:lstStyle/>
          <a:p>
            <a:pPr marL="171450" indent="-171450">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Dispersion for 5 cm hole diameter and  4213kg Propane</a:t>
            </a:r>
            <a:endParaRPr lang="en-US" sz="1100" dirty="0">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71C1172A-52FC-FC63-4047-418D5828589F}"/>
              </a:ext>
            </a:extLst>
          </p:cNvPr>
          <p:cNvSpPr txBox="1"/>
          <p:nvPr/>
        </p:nvSpPr>
        <p:spPr>
          <a:xfrm>
            <a:off x="4877976" y="7665620"/>
            <a:ext cx="3448050" cy="261610"/>
          </a:xfrm>
          <a:prstGeom prst="rect">
            <a:avLst/>
          </a:prstGeom>
          <a:noFill/>
        </p:spPr>
        <p:txBody>
          <a:bodyPr wrap="square" rtlCol="0">
            <a:spAutoFit/>
          </a:bodyPr>
          <a:lstStyle/>
          <a:p>
            <a:pPr marL="171450" indent="-171450">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Propane ( Mass flow rate – 31.83 kg/s) </a:t>
            </a:r>
          </a:p>
        </p:txBody>
      </p:sp>
      <p:pic>
        <p:nvPicPr>
          <p:cNvPr id="51" name="Picture 50">
            <a:extLst>
              <a:ext uri="{FF2B5EF4-FFF2-40B4-BE49-F238E27FC236}">
                <a16:creationId xmlns:a16="http://schemas.microsoft.com/office/drawing/2014/main" id="{1FDEF465-338E-D65F-3749-6D0AA4A677E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888759" y="7938766"/>
            <a:ext cx="2155446" cy="1267514"/>
          </a:xfrm>
          <a:prstGeom prst="rect">
            <a:avLst/>
          </a:prstGeom>
        </p:spPr>
      </p:pic>
      <p:sp>
        <p:nvSpPr>
          <p:cNvPr id="54" name="TextBox 53">
            <a:extLst>
              <a:ext uri="{FF2B5EF4-FFF2-40B4-BE49-F238E27FC236}">
                <a16:creationId xmlns:a16="http://schemas.microsoft.com/office/drawing/2014/main" id="{BB18F127-0EB7-38B4-ED08-7C55850F290F}"/>
              </a:ext>
            </a:extLst>
          </p:cNvPr>
          <p:cNvSpPr txBox="1"/>
          <p:nvPr/>
        </p:nvSpPr>
        <p:spPr>
          <a:xfrm>
            <a:off x="4864862" y="11207961"/>
            <a:ext cx="4500923" cy="261610"/>
          </a:xfrm>
          <a:prstGeom prst="rect">
            <a:avLst/>
          </a:prstGeom>
          <a:noFill/>
        </p:spPr>
        <p:txBody>
          <a:bodyPr wrap="square" rtlCol="0">
            <a:spAutoFit/>
          </a:bodyPr>
          <a:lstStyle/>
          <a:p>
            <a:pPr algn="ctr"/>
            <a:r>
              <a:rPr lang="en-US" sz="1100" i="1" u="sng" dirty="0"/>
              <a:t>Figure 09: Dispersion area &amp; mass fraction of Propane at 2 m height</a:t>
            </a:r>
            <a:endParaRPr lang="en-US" sz="1100" dirty="0"/>
          </a:p>
        </p:txBody>
      </p:sp>
      <p:sp>
        <p:nvSpPr>
          <p:cNvPr id="50" name="TextBox 49">
            <a:extLst>
              <a:ext uri="{FF2B5EF4-FFF2-40B4-BE49-F238E27FC236}">
                <a16:creationId xmlns:a16="http://schemas.microsoft.com/office/drawing/2014/main" id="{4964B21D-B3C2-4C90-B246-702FAA9331C9}"/>
              </a:ext>
            </a:extLst>
          </p:cNvPr>
          <p:cNvSpPr txBox="1"/>
          <p:nvPr/>
        </p:nvSpPr>
        <p:spPr>
          <a:xfrm>
            <a:off x="4963088" y="3525908"/>
            <a:ext cx="4374122" cy="600164"/>
          </a:xfrm>
          <a:prstGeom prst="rect">
            <a:avLst/>
          </a:prstGeom>
          <a:noFill/>
        </p:spPr>
        <p:txBody>
          <a:bodyPr wrap="square" rtlCol="0">
            <a:spAutoFit/>
          </a:bodyPr>
          <a:lstStyle/>
          <a:p>
            <a:pPr marL="171450" indent="-171450" algn="just">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Dispersion for 5 cm hole diameter and  1571kg ammonia</a:t>
            </a:r>
          </a:p>
          <a:p>
            <a:pPr marL="171450" indent="-171450">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Mass flow rate – 15.61 kg/s</a:t>
            </a:r>
          </a:p>
          <a:p>
            <a:endParaRPr lang="en-US" sz="1100" dirty="0"/>
          </a:p>
        </p:txBody>
      </p:sp>
      <p:pic>
        <p:nvPicPr>
          <p:cNvPr id="2" name="Picture 1">
            <a:extLst>
              <a:ext uri="{FF2B5EF4-FFF2-40B4-BE49-F238E27FC236}">
                <a16:creationId xmlns:a16="http://schemas.microsoft.com/office/drawing/2014/main" id="{B2A7240B-509F-4B8B-BB59-42E1B903D9CC}"/>
              </a:ext>
            </a:extLst>
          </p:cNvPr>
          <p:cNvPicPr>
            <a:picLocks noChangeAspect="1"/>
          </p:cNvPicPr>
          <p:nvPr/>
        </p:nvPicPr>
        <p:blipFill>
          <a:blip r:embed="rId14"/>
          <a:stretch>
            <a:fillRect/>
          </a:stretch>
        </p:blipFill>
        <p:spPr>
          <a:xfrm>
            <a:off x="4916891" y="3913575"/>
            <a:ext cx="2108064" cy="1409621"/>
          </a:xfrm>
          <a:prstGeom prst="rect">
            <a:avLst/>
          </a:prstGeom>
        </p:spPr>
      </p:pic>
      <p:pic>
        <p:nvPicPr>
          <p:cNvPr id="29" name="Picture 28">
            <a:extLst>
              <a:ext uri="{FF2B5EF4-FFF2-40B4-BE49-F238E27FC236}">
                <a16:creationId xmlns:a16="http://schemas.microsoft.com/office/drawing/2014/main" id="{4A8D09FB-A061-4782-942B-1C733506A97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058677" y="3902409"/>
            <a:ext cx="2344414" cy="1420787"/>
          </a:xfrm>
          <a:prstGeom prst="rect">
            <a:avLst/>
          </a:prstGeom>
        </p:spPr>
      </p:pic>
      <p:sp>
        <p:nvSpPr>
          <p:cNvPr id="52" name="TextBox 51">
            <a:extLst>
              <a:ext uri="{FF2B5EF4-FFF2-40B4-BE49-F238E27FC236}">
                <a16:creationId xmlns:a16="http://schemas.microsoft.com/office/drawing/2014/main" id="{27E5DCDC-388B-4123-B2A3-6569948DE074}"/>
              </a:ext>
            </a:extLst>
          </p:cNvPr>
          <p:cNvSpPr txBox="1"/>
          <p:nvPr/>
        </p:nvSpPr>
        <p:spPr>
          <a:xfrm>
            <a:off x="4902168" y="5302075"/>
            <a:ext cx="4500923" cy="261610"/>
          </a:xfrm>
          <a:prstGeom prst="rect">
            <a:avLst/>
          </a:prstGeom>
          <a:noFill/>
        </p:spPr>
        <p:txBody>
          <a:bodyPr wrap="square" rtlCol="0">
            <a:spAutoFit/>
          </a:bodyPr>
          <a:lstStyle/>
          <a:p>
            <a:pPr algn="ctr"/>
            <a:r>
              <a:rPr lang="en-US" sz="1100" i="1" u="sng" dirty="0"/>
              <a:t>Figure 06: Dispersion area &amp; mass fraction of ammonia at 2 m height</a:t>
            </a:r>
            <a:endParaRPr lang="en-US" sz="1100" dirty="0"/>
          </a:p>
        </p:txBody>
      </p:sp>
      <p:sp>
        <p:nvSpPr>
          <p:cNvPr id="57" name="TextBox 56">
            <a:extLst>
              <a:ext uri="{FF2B5EF4-FFF2-40B4-BE49-F238E27FC236}">
                <a16:creationId xmlns:a16="http://schemas.microsoft.com/office/drawing/2014/main" id="{7A4D38D9-3592-49D0-87AB-7C7CE3A2E412}"/>
              </a:ext>
            </a:extLst>
          </p:cNvPr>
          <p:cNvSpPr txBox="1"/>
          <p:nvPr/>
        </p:nvSpPr>
        <p:spPr>
          <a:xfrm>
            <a:off x="4980693" y="9413847"/>
            <a:ext cx="4511777" cy="261610"/>
          </a:xfrm>
          <a:prstGeom prst="rect">
            <a:avLst/>
          </a:prstGeom>
          <a:noFill/>
        </p:spPr>
        <p:txBody>
          <a:bodyPr wrap="square" rtlCol="0">
            <a:spAutoFit/>
          </a:bodyPr>
          <a:lstStyle/>
          <a:p>
            <a:pPr marL="171450" indent="-171450">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Dispersion for 5 cm hole diameter and  3716kg Propane</a:t>
            </a:r>
            <a:endParaRPr lang="en-US" sz="1100"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CE177286-9A05-46C7-8412-44EB5F5058D5}"/>
              </a:ext>
            </a:extLst>
          </p:cNvPr>
          <p:cNvSpPr txBox="1"/>
          <p:nvPr/>
        </p:nvSpPr>
        <p:spPr>
          <a:xfrm>
            <a:off x="4963088" y="9578055"/>
            <a:ext cx="3448050" cy="261610"/>
          </a:xfrm>
          <a:prstGeom prst="rect">
            <a:avLst/>
          </a:prstGeom>
          <a:noFill/>
        </p:spPr>
        <p:txBody>
          <a:bodyPr wrap="square" rtlCol="0">
            <a:spAutoFit/>
          </a:bodyPr>
          <a:lstStyle/>
          <a:p>
            <a:pPr marL="171450" indent="-171450">
              <a:buFont typeface="Wingdings" panose="05000000000000000000" pitchFamily="2" charset="2"/>
              <a:buChar char="v"/>
            </a:pPr>
            <a:r>
              <a:rPr lang="en-US" sz="1100" dirty="0">
                <a:latin typeface="Times New Roman" panose="02020603050405020304" pitchFamily="18" charset="0"/>
                <a:cs typeface="Times New Roman" panose="02020603050405020304" pitchFamily="18" charset="0"/>
              </a:rPr>
              <a:t> Propane ( Mass flow rate – 0.07 kg/s) </a:t>
            </a:r>
          </a:p>
        </p:txBody>
      </p:sp>
      <p:pic>
        <p:nvPicPr>
          <p:cNvPr id="30" name="Picture 29">
            <a:extLst>
              <a:ext uri="{FF2B5EF4-FFF2-40B4-BE49-F238E27FC236}">
                <a16:creationId xmlns:a16="http://schemas.microsoft.com/office/drawing/2014/main" id="{F8B6EA19-3549-449E-8970-EDE7CB03C01E}"/>
              </a:ext>
            </a:extLst>
          </p:cNvPr>
          <p:cNvPicPr>
            <a:picLocks noChangeAspect="1"/>
          </p:cNvPicPr>
          <p:nvPr/>
        </p:nvPicPr>
        <p:blipFill>
          <a:blip r:embed="rId16"/>
          <a:stretch>
            <a:fillRect/>
          </a:stretch>
        </p:blipFill>
        <p:spPr>
          <a:xfrm>
            <a:off x="7041292" y="9837083"/>
            <a:ext cx="2358014" cy="1388935"/>
          </a:xfrm>
          <a:prstGeom prst="rect">
            <a:avLst/>
          </a:prstGeom>
        </p:spPr>
      </p:pic>
      <p:sp>
        <p:nvSpPr>
          <p:cNvPr id="59" name="TextBox 58">
            <a:extLst>
              <a:ext uri="{FF2B5EF4-FFF2-40B4-BE49-F238E27FC236}">
                <a16:creationId xmlns:a16="http://schemas.microsoft.com/office/drawing/2014/main" id="{0F6BD880-9948-4F0C-9BDD-461436AFA7EA}"/>
              </a:ext>
            </a:extLst>
          </p:cNvPr>
          <p:cNvSpPr txBox="1"/>
          <p:nvPr/>
        </p:nvSpPr>
        <p:spPr>
          <a:xfrm>
            <a:off x="4883251" y="9166354"/>
            <a:ext cx="4500923" cy="261610"/>
          </a:xfrm>
          <a:prstGeom prst="rect">
            <a:avLst/>
          </a:prstGeom>
          <a:noFill/>
        </p:spPr>
        <p:txBody>
          <a:bodyPr wrap="square" rtlCol="0">
            <a:spAutoFit/>
          </a:bodyPr>
          <a:lstStyle/>
          <a:p>
            <a:pPr algn="ctr"/>
            <a:r>
              <a:rPr lang="en-US" sz="1100" i="1" u="sng" dirty="0"/>
              <a:t>Figure 08: Dispersion area &amp; mass fraction of Propane at 2 m height</a:t>
            </a:r>
            <a:endParaRPr lang="en-US" sz="1100" dirty="0"/>
          </a:p>
        </p:txBody>
      </p:sp>
      <p:pic>
        <p:nvPicPr>
          <p:cNvPr id="5" name="Picture 4">
            <a:extLst>
              <a:ext uri="{FF2B5EF4-FFF2-40B4-BE49-F238E27FC236}">
                <a16:creationId xmlns:a16="http://schemas.microsoft.com/office/drawing/2014/main" id="{DE1E941F-1AE0-4D55-9ED7-98097E453E1E}"/>
              </a:ext>
            </a:extLst>
          </p:cNvPr>
          <p:cNvPicPr>
            <a:picLocks noChangeAspect="1"/>
          </p:cNvPicPr>
          <p:nvPr/>
        </p:nvPicPr>
        <p:blipFill>
          <a:blip r:embed="rId17"/>
          <a:stretch>
            <a:fillRect/>
          </a:stretch>
        </p:blipFill>
        <p:spPr>
          <a:xfrm>
            <a:off x="7125378" y="2016972"/>
            <a:ext cx="2282249" cy="1392483"/>
          </a:xfrm>
          <a:prstGeom prst="rect">
            <a:avLst/>
          </a:prstGeom>
        </p:spPr>
      </p:pic>
    </p:spTree>
    <p:extLst>
      <p:ext uri="{BB962C8B-B14F-4D97-AF65-F5344CB8AC3E}">
        <p14:creationId xmlns:p14="http://schemas.microsoft.com/office/powerpoint/2010/main" val="24653654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1112</TotalTime>
  <Words>538</Words>
  <Application>Microsoft Office PowerPoint</Application>
  <PresentationFormat>A3 Paper (297x420 mm)</PresentationFormat>
  <Paragraphs>68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Oswald</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Udara Jayawardana</dc:creator>
  <cp:lastModifiedBy>CHAMA COMPUTERS</cp:lastModifiedBy>
  <cp:revision>71</cp:revision>
  <dcterms:created xsi:type="dcterms:W3CDTF">2024-03-08T16:29:28Z</dcterms:created>
  <dcterms:modified xsi:type="dcterms:W3CDTF">2025-07-22T18:19:40Z</dcterms:modified>
</cp:coreProperties>
</file>